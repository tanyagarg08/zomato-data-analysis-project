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59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87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79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6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51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12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95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42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70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5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48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1437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50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89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93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75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9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30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2843784"/>
            <a:ext cx="8101584" cy="2276856"/>
          </a:xfr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Project Name: </a:t>
            </a:r>
            <a:r>
              <a:rPr lang="en-US" sz="2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Zomato Data Analysis Project</a:t>
            </a:r>
          </a:p>
          <a:p>
            <a:pPr algn="l"/>
            <a:r>
              <a:rPr sz="2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Name: </a:t>
            </a:r>
            <a:r>
              <a:rPr sz="2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Tanya Garg</a:t>
            </a:r>
            <a:endParaRPr lang="en-US" sz="28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l"/>
            <a:r>
              <a:rPr sz="2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Project Type: </a:t>
            </a:r>
            <a:r>
              <a:rPr sz="2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Exploratory Data</a:t>
            </a:r>
            <a:r>
              <a:rPr lang="en-US" sz="2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</a:t>
            </a:r>
            <a:r>
              <a:rPr sz="2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Analysis</a:t>
            </a:r>
            <a:r>
              <a:rPr lang="en-US" sz="2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</a:t>
            </a:r>
            <a:r>
              <a:rPr sz="2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(EDA) &amp;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74B78-E408-8FBB-90EC-0B2B84215D87}"/>
              </a:ext>
            </a:extLst>
          </p:cNvPr>
          <p:cNvSpPr txBox="1"/>
          <p:nvPr/>
        </p:nvSpPr>
        <p:spPr>
          <a:xfrm>
            <a:off x="1867662" y="1126045"/>
            <a:ext cx="555498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Bahnschrift SemiCondensed" panose="020B0502040204020203" pitchFamily="34" charset="0"/>
              </a:rPr>
              <a:t>Internship Project Report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Online food platforms like Zomato require accurate pricing insights for users.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Restaurant pricing plays a key role in customer decision-making.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This project applies data analysis and machine learning techniques to understand pricing patterns.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The project demonstrates a complete data science workflow from raw data to deployment-ready model.</a:t>
            </a:r>
            <a:endParaRPr lang="en-US" sz="2200" dirty="0">
              <a:latin typeface="Aptos" panose="020B0004020202020204" pitchFamily="34" charset="0"/>
            </a:endParaRPr>
          </a:p>
          <a:p>
            <a:pPr lvl="1"/>
            <a:endParaRPr lang="en-IN" sz="2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The primary objective is to predict restaurant cost using available metadata.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Analyze which factors influence restaurant pricing the most.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Build a reliable regression model that can generalize well on unseen data.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Provide meaningful business insights using data-driven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The dataset contains 105 restaurant records collected from Zomato.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Features include restaurant name, cuisines served, collections, and cost for two people.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Cost is treated as the target variable for prediction.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The dataset contains both textual and numerical features suitable for regression.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Arial Black" panose="020B0A04020102020204" pitchFamily="34" charset="0"/>
              </a:rPr>
              <a:t>Data Cleaning &amp;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Duplicate records were identified and removed to avoid biased learning.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Missing values were handled using median imputation for numerical data and mode for categorical data.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The cost column was cleaned and converted into numeric format.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Irrelevant columns such as links and timings were removed</a:t>
            </a:r>
            <a:r>
              <a:rPr sz="22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Arial Black" panose="020B0A04020102020204" pitchFamily="34" charset="0"/>
              </a:rP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EDA was performed to understand data distribution and relationships.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15 meaningful charts were created following Univariate, Bivariate, and Multivariate analysis.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Visualization helped identify trends, patterns, and anomalies.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EDA insights guided feature engineering and model selection.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Key Insights from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Most restaurants fall under budget and mid-range pricing.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Restaurants offering multiple cuisines generally have higher costs.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Restaurant pricing varies significantly across different collections.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A few premium restaurants act as outliers in the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91640"/>
            <a:ext cx="8229600" cy="4525963"/>
          </a:xfrm>
        </p:spPr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A new feature </a:t>
            </a:r>
            <a:r>
              <a:rPr sz="2200" dirty="0" err="1">
                <a:latin typeface="Aptos" panose="020B0004020202020204" pitchFamily="34" charset="0"/>
              </a:rPr>
              <a:t>CuisineCount</a:t>
            </a:r>
            <a:r>
              <a:rPr sz="2200" dirty="0">
                <a:latin typeface="Aptos" panose="020B0004020202020204" pitchFamily="34" charset="0"/>
              </a:rPr>
              <a:t> was created to represent menu variety.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Textual features were cleaned and standardized for consistency.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TF-IDF vectorization was applied to extract meaningful text features.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Feature selection was performed to reduce overfitting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Statistical hypothesis testing was conducted to validate EDA insights.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Independent t-test was used for single vs multi-cuisine cost comparison.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ANOVA tested cost variation across restaurant collections.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Correlation analysis evaluated the relationship between cuisine count and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Linear and Ridge Regression were used as baseline models.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Random Forest Regressor captured non-linear relationships.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Gradient Boosting Regressor provided the best overall performance.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Multiple models helped ensure robust comparison and selection.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ptos" panose="020B0004020202020204" pitchFamily="34" charset="0"/>
              </a:rPr>
              <a:t>Models were evaluated using MAE, RMSE, and R² score.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Lower MAE and RMSE indicate better prediction accuracy.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Higher R² shows stronger explanatory power.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Hyperparameter tuning improved model generalization.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Model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ptos" panose="020B0004020202020204" pitchFamily="34" charset="0"/>
              </a:rPr>
              <a:t>Feature importance analysis was performed to understand model decisions.</a:t>
            </a:r>
          </a:p>
          <a:p>
            <a:pPr lvl="1"/>
            <a:r>
              <a:rPr dirty="0" err="1">
                <a:latin typeface="Aptos" panose="020B0004020202020204" pitchFamily="34" charset="0"/>
              </a:rPr>
              <a:t>Cuisine_Count</a:t>
            </a:r>
            <a:r>
              <a:rPr dirty="0">
                <a:latin typeface="Aptos" panose="020B0004020202020204" pitchFamily="34" charset="0"/>
              </a:rPr>
              <a:t> emerged as a key factor influencing cost prediction.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Explainability improves transparency and trust in the model.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This helps stakeholders understand pricing drivers.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ptos" panose="020B0004020202020204" pitchFamily="34" charset="0"/>
              </a:rPr>
              <a:t>Accurate cost prediction improves customer trust on the platform.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Restaurants can optimize pricing and positioning strategies.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The platform can enhance recommendation quality.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Data-driven insights support better business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Deployment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The final model was saved using </a:t>
            </a:r>
            <a:r>
              <a:rPr sz="2200" dirty="0" err="1">
                <a:latin typeface="Aptos" panose="020B0004020202020204" pitchFamily="34" charset="0"/>
              </a:rPr>
              <a:t>joblib</a:t>
            </a:r>
            <a:r>
              <a:rPr sz="2200" dirty="0">
                <a:latin typeface="Aptos" panose="020B0004020202020204" pitchFamily="34" charset="0"/>
              </a:rPr>
              <a:t> format.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The model was reloaded successfully without errors.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Unseen data predictions were tested for sanity check.</a:t>
            </a:r>
          </a:p>
          <a:p>
            <a:pPr lvl="1"/>
            <a:r>
              <a:rPr sz="2200" dirty="0">
                <a:latin typeface="Aptos" panose="020B0004020202020204" pitchFamily="34" charset="0"/>
              </a:rPr>
              <a:t>The notebook is executable end-to-end in one 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ptos" panose="020B0004020202020204" pitchFamily="34" charset="0"/>
              </a:rPr>
              <a:t>The project demonstrates an end-to-end machine learning pipeline.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Strong emphasis was placed on data quality and interpretability.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The final model </a:t>
            </a:r>
            <a:r>
              <a:rPr lang="en-US" sz="2200" dirty="0">
                <a:latin typeface="Aptos" panose="020B0004020202020204" pitchFamily="34" charset="0"/>
              </a:rPr>
              <a:t>is</a:t>
            </a:r>
            <a:r>
              <a:rPr dirty="0">
                <a:latin typeface="Aptos" panose="020B0004020202020204" pitchFamily="34" charset="0"/>
              </a:rPr>
              <a:t> accurate, reliable, and deployment-ready.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This project reflects real-world data science application.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ptos" panose="020B0004020202020204" pitchFamily="34" charset="0"/>
              </a:rPr>
              <a:t>Incorporate larger datasets for improved </a:t>
            </a:r>
            <a:r>
              <a:rPr sz="2200" dirty="0">
                <a:latin typeface="Aptos" panose="020B0004020202020204" pitchFamily="34" charset="0"/>
              </a:rPr>
              <a:t>generalization</a:t>
            </a:r>
            <a:r>
              <a:rPr dirty="0">
                <a:latin typeface="Aptos" panose="020B0004020202020204" pitchFamily="34" charset="0"/>
              </a:rPr>
              <a:t>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Include customer ratings and reviews.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Apply advanced NLP techniques for text data.</a:t>
            </a:r>
          </a:p>
          <a:p>
            <a:pPr lvl="1"/>
            <a:r>
              <a:rPr dirty="0">
                <a:latin typeface="Aptos" panose="020B0004020202020204" pitchFamily="34" charset="0"/>
              </a:rPr>
              <a:t>Deploy the model as a web application.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2468</TotalTime>
  <Words>651</Words>
  <Application>Microsoft Office PowerPoint</Application>
  <PresentationFormat>On-screen Show (4:3)</PresentationFormat>
  <Paragraphs>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 Black</vt:lpstr>
      <vt:lpstr>Arial Rounded MT Bold</vt:lpstr>
      <vt:lpstr>Bahnschrift SemiCondensed</vt:lpstr>
      <vt:lpstr>Calisto MT</vt:lpstr>
      <vt:lpstr>Wingdings 2</vt:lpstr>
      <vt:lpstr>Slate</vt:lpstr>
      <vt:lpstr>PowerPoint Presentation</vt:lpstr>
      <vt:lpstr>Introduction</vt:lpstr>
      <vt:lpstr>Problem Statement</vt:lpstr>
      <vt:lpstr>Dataset Overview</vt:lpstr>
      <vt:lpstr>Data Cleaning &amp; Wrangling</vt:lpstr>
      <vt:lpstr>Exploratory Data Analysis (EDA)</vt:lpstr>
      <vt:lpstr>Key Insights from EDA</vt:lpstr>
      <vt:lpstr>Feature Engineering</vt:lpstr>
      <vt:lpstr>Hypothesis Testing</vt:lpstr>
      <vt:lpstr>Machine Learning Models</vt:lpstr>
      <vt:lpstr>Model Evaluation</vt:lpstr>
      <vt:lpstr>Model Explainability</vt:lpstr>
      <vt:lpstr>Business Impact</vt:lpstr>
      <vt:lpstr>Deployment Readiness</vt:lpstr>
      <vt:lpstr>Conclusion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Tanya Garg</cp:lastModifiedBy>
  <cp:revision>2</cp:revision>
  <dcterms:created xsi:type="dcterms:W3CDTF">2013-01-27T09:14:16Z</dcterms:created>
  <dcterms:modified xsi:type="dcterms:W3CDTF">2026-01-11T05:31:23Z</dcterms:modified>
  <cp:category/>
</cp:coreProperties>
</file>